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" cy="4297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DAY 9 LAB · ANNOTATION GUIDELINE SPECIFICATION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Guideline Gán Nhãn</a:t>
            </a:r>
            <a:br/>
            <a:r>
              <a:t>Đèn Giao Thông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t>Trạng thái &amp; Ego-Relevance tại Giao Lộ Phức Tạp (Topic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3474720"/>
            <a:ext cx="5669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3611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NHÓM THỰC HIỆN: sudo-lite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</a:rPr>
              <a:t>• Hoàng Kim Thiên: </a:t>
            </a:r>
            <a:r>
              <a:rPr sz="1100">
                <a:solidFill>
                  <a:srgbClr val="94A3B8"/>
                </a:solidFill>
              </a:rPr>
              <a:t>Team Leader · Spec Owner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</a:rPr>
              <a:t>• Vũ Minh Kiệt: </a:t>
            </a:r>
            <a:r>
              <a:rPr sz="1100">
                <a:solidFill>
                  <a:srgbClr val="94A3B8"/>
                </a:solidFill>
              </a:rPr>
              <a:t>CVAT &amp; Data Owner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</a:rPr>
              <a:t>• Nguyễn Ngọc Minh: </a:t>
            </a:r>
            <a:r>
              <a:rPr sz="1100">
                <a:solidFill>
                  <a:srgbClr val="94A3B8"/>
                </a:solidFill>
              </a:rPr>
              <a:t>Gold Standard &amp; Edge Cases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F8FAFC"/>
                </a:solidFill>
              </a:rPr>
              <a:t>• Lê Nguyễn Hà My: </a:t>
            </a:r>
            <a:r>
              <a:rPr sz="1100">
                <a:solidFill>
                  <a:srgbClr val="94A3B8"/>
                </a:solidFill>
              </a:rPr>
              <a:t>QA &amp; Blind Handoff Owner</a:t>
            </a:r>
          </a:p>
        </p:txBody>
      </p:sp>
      <p:pic>
        <p:nvPicPr>
          <p:cNvPr id="7" name="Picture 6" descr="LISA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80160"/>
            <a:ext cx="4251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PHẦN 1 · MỤC TIÊU &amp; PHẠM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Quy Định Trong Phạm Vi (In-Scope) &amp; Ngoài Phạm Vi (Out-of-Scope)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Đảm bảo người gán nhãn biết chính xác đối tượng nào cần vẽ và đối tượng nào phải bỏ qua.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39112"/>
            <a:ext cx="5705856" cy="3968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Quy Tắc Lọc Đối Tượng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Trong phạm vi (Bắt buộc vẽ):</a:t>
            </a:r>
            <a:r>
              <a:rPr sz="1200">
                <a:solidFill>
                  <a:srgbClr val="94A3B8"/>
                </a:solidFill>
              </a:rPr>
              <a:t>
  Mọi đầu đèn có mặt đèn quay về phía xe quan sát, kích thước nhìn thấy &gt;= 8x8 pixels (gồm cả đèn xe &amp; đèn đi bộ).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Ngoài phạm vi (Bỏ qua - Ignore):</a:t>
            </a:r>
            <a:r>
              <a:rPr sz="1200">
                <a:solidFill>
                  <a:srgbClr val="94A3B8"/>
                </a:solidFill>
              </a:rPr>
              <a:t>
  Đèn quay lưng (thấy lưng kim loại) hoặc quay ngang 90 độ phục vụ luồng cắt ngang.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Không gán nhãn:</a:t>
            </a:r>
            <a:r>
              <a:rPr sz="1200">
                <a:solidFill>
                  <a:srgbClr val="94A3B8"/>
                </a:solidFill>
              </a:rPr>
              <a:t>
  Cột đèn, tay xà đòn ngang, biển báo phụ treo rời ngoài vỏ đèn.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Loại trừ nhiễu ảnh:</a:t>
            </a:r>
            <a:r>
              <a:rPr sz="1200">
                <a:solidFill>
                  <a:srgbClr val="94A3B8"/>
                </a:solidFill>
              </a:rPr>
              <a:t>
  Bóng đèn phản chiếu trên kính xe, nắp ca-pô, hoặc vũng nước mặt đường.</a:t>
            </a:r>
          </a:p>
        </p:txBody>
      </p:sp>
      <p:pic>
        <p:nvPicPr>
          <p:cNvPr id="8" name="Picture 7" descr="BDD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25196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5330952"/>
            <a:ext cx="4251960" cy="9326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</a:defRPr>
            </a:pPr>
            <a:r>
              <a:t>MINH HỌA TRỰC QUAN GUIDELINE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Mẫu BDD02: Giao lộ đô thị ban ngày. Bắt buộc vẽ các cụm đèn quay về camera; bỏ qua đèn phụ quay lưng.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PHẦN 2 &amp; 3 · ĐƠN VỊ &amp; HÌNH HỌC BBOX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Đơn Vị Gán Nhãn &amp; Giới Hạn Bao Khít Hộp Đèn (Tight BBox)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Độ chuẩn xác của Bounding Box quyết định chất lượng huấn luyện mô hình Object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39112"/>
            <a:ext cx="5705856" cy="3968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BF24"/>
                </a:solidFill>
              </a:defRPr>
            </a:pPr>
            <a:r>
              <a:t>Quy Tắc Vẽ Bounding Box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BBF24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Đơn vị cá thể (Single Head):</a:t>
            </a:r>
            <a:r>
              <a:rPr sz="1200">
                <a:solidFill>
                  <a:srgbClr val="94A3B8"/>
                </a:solidFill>
              </a:rPr>
              <a:t>
  Mỗi vỏ hộp đèn chứa một cụm bóng (3 bóng hoặc bóng rẽ) là 1 box riêng. CẤM gom nhiều đầu đèn cạnh nhau.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BBF24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Bao khít vỏ cứng (Tight BBox):</a:t>
            </a:r>
            <a:r>
              <a:rPr sz="1200">
                <a:solidFill>
                  <a:srgbClr val="94A3B8"/>
                </a:solidFill>
              </a:rPr>
              <a:t>
  BBox phải ôm sát mép vỏ nhựa/kim loại (housing) và tấm chụp che nắng (visor/hoods).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BBF24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TUYỆT ĐỐI KHÔNG bao quầng sáng (NO Bloom):</a:t>
            </a:r>
            <a:r>
              <a:rPr sz="1200">
                <a:solidFill>
                  <a:srgbClr val="94A3B8"/>
                </a:solidFill>
              </a:rPr>
              <a:t>
  Ban đêm đèn tỏa sáng chói (glare/lens flare) -&gt; Zoom 200% vẽ sát phần vỏ cứng bên trong, cấm kéo trùm quầng sáng.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BBF24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Dung sai hình học:</a:t>
            </a:r>
            <a:r>
              <a:rPr sz="1200">
                <a:solidFill>
                  <a:srgbClr val="94A3B8"/>
                </a:solidFill>
              </a:rPr>
              <a:t>
  Sai lệch không quá &lt;= 3 pixels ở mỗi cạnh so với viền thực.</a:t>
            </a:r>
          </a:p>
        </p:txBody>
      </p:sp>
      <p:pic>
        <p:nvPicPr>
          <p:cNvPr id="8" name="Picture 7" descr="BDD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25196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5330952"/>
            <a:ext cx="4251960" cy="9326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BBF24"/>
                </a:solidFill>
              </a:defRPr>
            </a:pPr>
            <a:r>
              <a:t>MINH HỌA TRỰC QUAN GUIDELINE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Mẫu BDD26: Chóa sáng ban đêm. Phải bóc tách quầng sáng tỏa tròn, chỉ vẽ viền hình chữ nhật của vỏ đèn.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PHẦN 4 · HỆ THỐNG PHÂN LOẠI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4 Thuộc Tính Bắt Buộc Của Nhãn traffic_light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Mỗi box tạo ra bắt buộc phải gán đủ 4 thuộc tính, không được để giá trị mặc định undefined.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39112"/>
            <a:ext cx="5705856" cy="3968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Danh Mục Thuộc Tính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state (Trạng thái màu):</a:t>
            </a:r>
            <a:r>
              <a:rPr sz="1200">
                <a:solidFill>
                  <a:srgbClr val="94A3B8"/>
                </a:solidFill>
              </a:rPr>
              <a:t>
  red | yellow | green | off (tắt) | unknown (chói trắng không rõ màu).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direction (Hướng chỉ định):</a:t>
            </a:r>
            <a:r>
              <a:rPr sz="1200">
                <a:solidFill>
                  <a:srgbClr val="94A3B8"/>
                </a:solidFill>
              </a:rPr>
              <a:t>
  straight (đi thẳng) | left (rẽ trái) | right (rẽ phải) | general (bóng tròn).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needs_review (Cờ nghi vấn):</a:t>
            </a:r>
            <a:r>
              <a:rPr sz="1200">
                <a:solidFill>
                  <a:srgbClr val="94A3B8"/>
                </a:solidFill>
              </a:rPr>
              <a:t>
  Tích 'true' khi đèn bị che khuất &gt; 50%, chói nắng lóa, hoặc khoảng cách &gt; 80m.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Tag cấp ảnh: image_escalate:</a:t>
            </a:r>
            <a:r>
              <a:rPr sz="1200">
                <a:solidFill>
                  <a:srgbClr val="94A3B8"/>
                </a:solidFill>
              </a:rPr>
              <a:t>
  Gán cho toàn bộ ảnh nếu ảnh bị nhòe hỏng, mờ sương, không thể nhận diện an toàn.</a:t>
            </a:r>
          </a:p>
        </p:txBody>
      </p:sp>
      <p:pic>
        <p:nvPicPr>
          <p:cNvPr id="8" name="Picture 7" descr="BDD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25196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5330952"/>
            <a:ext cx="4251960" cy="9326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</a:defRPr>
            </a:pPr>
            <a:r>
              <a:t>MINH HỌA TRỰC QUAN GUIDELINE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Mẫu BDD07: Hai đầu đèn vỏ vàng New York. Cần phân định chính xác state và direction (general) của từng đầu đèn.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PHẦN 4.2 · QUY TẮC EGO-RELEVANCE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Xác Định Mức Độ Liên Quan Tới Làn Xe Chủ (Ego-Relevance)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Quy tắc sống còn giúp xe tự hành phân biệt đèn của mình và đèn của làn rẽ hoặc luồng khác.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39112"/>
            <a:ext cx="5705856" cy="3968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Phân Biệt Luồng Điều Khiển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87171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ego_lane (Đèn làn mình):</a:t>
            </a:r>
            <a:r>
              <a:rPr sz="1200">
                <a:solidFill>
                  <a:srgbClr val="94A3B8"/>
                </a:solidFill>
              </a:rPr>
              <a:t>
  Đèn treo thẳng nóc làn hoặc kiểm soát trực tiếp hướng xe chủ đang đi thẳng.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87171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cross_traffic (Đèn luồng khác):</a:t>
            </a:r>
            <a:r>
              <a:rPr sz="1200">
                <a:solidFill>
                  <a:srgbClr val="94A3B8"/>
                </a:solidFill>
              </a:rPr>
              <a:t>
  Đèn rẽ trái/phải có dải phân cách riêng, đèn luồng đối diện hoặc đèn đi bộ.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87171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Quy tắc chiếu tâm làn (Lane Projection):</a:t>
            </a:r>
            <a:r>
              <a:rPr sz="1200">
                <a:solidFill>
                  <a:srgbClr val="94A3B8"/>
                </a:solidFill>
              </a:rPr>
              <a:t>
  Nếu đèn treo giữa ranh giới 2 làn -&gt; Chiếu tâm làn xe ego lên giá treo; đèn nào gần tâm nhất là ego_lane.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87171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uncertain (Mập mờ):</a:t>
            </a:r>
            <a:r>
              <a:rPr sz="1200">
                <a:solidFill>
                  <a:srgbClr val="94A3B8"/>
                </a:solidFill>
              </a:rPr>
              <a:t>
  Khi mất vạch kẻ đường, góc nghiêng khó đoán -&gt; gán uncertain + needs_review.</a:t>
            </a:r>
          </a:p>
        </p:txBody>
      </p:sp>
      <p:pic>
        <p:nvPicPr>
          <p:cNvPr id="8" name="Picture 7" descr="LISA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25196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5330952"/>
            <a:ext cx="4251960" cy="9326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7171"/>
                </a:solidFill>
              </a:defRPr>
            </a:pPr>
            <a:r>
              <a:t>MINH HỌA TRỰC QUAN GUIDELINE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Mẫu LISA25 (Critical Guard): Đèn rẽ trái ĐỎ (cross_traffic) đối lập với Đèn thẳng XANH (ego_lane).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PHẦN 6 &amp; 7 · CHE KHUẤT &amp; NGOẠI LỆ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Xử Lý Che Khuất (Occlusion) &amp; Trường Hợp Chói Sáng Mập Mờ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Nguyên tắc xử lý các tình huống suy giảm tầm nhìn và chướng ngại vật tại nút giao.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39112"/>
            <a:ext cx="5705856" cy="3968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Quy Tắc Xử Lý Tình Huống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4D399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Che khuất một phần (&lt;= 50%):</a:t>
            </a:r>
            <a:r>
              <a:rPr sz="1200">
                <a:solidFill>
                  <a:srgbClr val="94A3B8"/>
                </a:solidFill>
              </a:rPr>
              <a:t>
  Bị lá cây/cột điện che &lt;= 50% diện tích -&gt; Kéo BBox bao trọn phần vỏ cứng nhìn thấy (Visible box).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4D399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Che khuất nặng (&gt; 50%):</a:t>
            </a:r>
            <a:r>
              <a:rPr sz="1200">
                <a:solidFill>
                  <a:srgbClr val="94A3B8"/>
                </a:solidFill>
              </a:rPr>
              <a:t>
  Bị che &gt; 50% hoặc mất tim bóng đèn không rõ hình dạng -&gt; BỎ QUA (Ignore).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4D399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Cắt mép ảnh (Truncation):</a:t>
            </a:r>
            <a:r>
              <a:rPr sz="1200">
                <a:solidFill>
                  <a:srgbClr val="94A3B8"/>
                </a:solidFill>
              </a:rPr>
              <a:t>
  Đèn bị rìa ảnh cắt nhưng phần trong ảnh &gt;= 8x8 px -&gt; Vẽ sát mép viền ảnh.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4D399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Chói lóa mất màu:</a:t>
            </a:r>
            <a:r>
              <a:rPr sz="1200">
                <a:solidFill>
                  <a:srgbClr val="94A3B8"/>
                </a:solidFill>
              </a:rPr>
              <a:t>
  Thấy vỏ nhưng bóng chói trắng xóa -&gt; state = unknown + needs_review = true.</a:t>
            </a:r>
          </a:p>
        </p:txBody>
      </p:sp>
      <p:pic>
        <p:nvPicPr>
          <p:cNvPr id="8" name="Picture 7" descr="BDD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25196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5330952"/>
            <a:ext cx="4251960" cy="9326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4D399"/>
                </a:solidFill>
              </a:defRPr>
            </a:pPr>
            <a:r>
              <a:t>MINH HỌA TRỰC QUAN GUIDELINE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Mẫu BDD25: Điều kiện hoàng hôn chạng vạng. Phải phóng to kiểm tra tim đèn để không nhầm quầng chói thành vỏ.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PHẦN 9 · ĐẢM BẢO CHẤT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4 Lỗi Cấm Kỵ &amp; Checklist Kiểm Tra Trước Khi Lưu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Tuân thủ checklist giúp loại bỏ 100% các lỗi sơ đẳng trước khi gửi bài cho QA/Peer.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39112"/>
            <a:ext cx="5705856" cy="3968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BF24"/>
                </a:solidFill>
              </a:defRPr>
            </a:pPr>
            <a:r>
              <a:t>Checklist 3 Bước Kiểm Định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BBF24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Lỗi 1: Gom chung đầu đèn:</a:t>
            </a:r>
            <a:r>
              <a:rPr sz="1200">
                <a:solidFill>
                  <a:srgbClr val="94A3B8"/>
                </a:solidFill>
              </a:rPr>
              <a:t>
  Tuyệt đối không vẽ 1 box lớn bọc 2-3 đầu đèn treo cạnh nhau.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BBF24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Lỗi 2: Kéo trùm quầng sáng (Bloom):</a:t>
            </a:r>
            <a:r>
              <a:rPr sz="1200">
                <a:solidFill>
                  <a:srgbClr val="94A3B8"/>
                </a:solidFill>
              </a:rPr>
              <a:t>
  Không để cạnh BBox vượt ra ngoài vỏ cứng kim loại.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BBF24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Lỗi 3: Quên chọn thuộc tính:</a:t>
            </a:r>
            <a:r>
              <a:rPr sz="1200">
                <a:solidFill>
                  <a:srgbClr val="94A3B8"/>
                </a:solidFill>
              </a:rPr>
              <a:t>
  Cấm để sót giá trị mặc định '__undefined__' trong Objects sidebar.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FBBF24"/>
                </a:solidFill>
              </a:rPr>
              <a:t>▸ </a:t>
            </a:r>
            <a:r>
              <a:rPr sz="1350" b="1">
                <a:solidFill>
                  <a:srgbClr val="F8FAFC"/>
                </a:solidFill>
              </a:rPr>
              <a:t>Checklist 3 bước trước khi Save:</a:t>
            </a:r>
            <a:r>
              <a:rPr sz="1200">
                <a:solidFill>
                  <a:srgbClr val="94A3B8"/>
                </a:solidFill>
              </a:rPr>
              <a:t>
  1. Khít viền BBox -&gt; 2. Chọn đủ 4 thuộc tính -&gt; 3. Kiểm tra danh sách sidebar -&gt; Nhấn Ctrl+S.</a:t>
            </a:r>
          </a:p>
        </p:txBody>
      </p:sp>
      <p:pic>
        <p:nvPicPr>
          <p:cNvPr id="8" name="Picture 7" descr="LISA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25196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5330952"/>
            <a:ext cx="4251960" cy="9326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5440680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BBF24"/>
                </a:solidFill>
              </a:defRPr>
            </a:pPr>
            <a:r>
              <a:t>MINH HỌA TRỰC QUAN GUIDELINE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Mẫu LISA12: Tiếp cận sát giao lộ. Kiểm tra kỹ danh sách Objects đảm bảo không bỏ sót đầu đèn nào.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